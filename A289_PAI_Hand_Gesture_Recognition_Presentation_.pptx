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666" y="-3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BC451-0EF6-45C0-969C-700A5E9B851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E5ACC-0CB8-4C1E-B9F6-308C2598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63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/>
              <a:t>Real-Time Hand Gesture Recognition</a:t>
            </a:r>
            <a:br>
              <a:rPr lang="en-US" sz="2000" b="1" dirty="0"/>
            </a:br>
            <a:r>
              <a:rPr lang="en-US" sz="2000" b="1" dirty="0"/>
              <a:t>using SVM and Computer Vision</a:t>
            </a:r>
            <a:endParaRPr lang="en-IN" sz="20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To</a:t>
            </a:r>
            <a:endParaRPr lang="en-US" sz="1200" dirty="0"/>
          </a:p>
        </p:txBody>
      </p:sp>
      <p:pic>
        <p:nvPicPr>
          <p:cNvPr id="4" name="Image 0" descr="/mnt/data/extracted_imgs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342" y="1188720"/>
            <a:ext cx="1681316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28803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SVKM’s NMIMS,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Mukesh Patel School of Technology Management &amp; Engineering,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Shirpur Campus (M.H.)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39136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/>
              <a:t>Nakshatra</a:t>
            </a:r>
            <a:r>
              <a:rPr lang="en-US" b="1" dirty="0"/>
              <a:t> </a:t>
            </a:r>
            <a:r>
              <a:rPr lang="en-US" b="1" dirty="0" err="1"/>
              <a:t>Paliwal</a:t>
            </a:r>
            <a:r>
              <a:rPr lang="en-US" b="1" dirty="0"/>
              <a:t> Enrollment No: 70012400197</a:t>
            </a:r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Supervision Of: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956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Supervision Of: Dr. Suyog Pande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(Artificial Intelligence and Machine Learning Dept.)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INFORMATION TECHNOLOGY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Mukesh Patel School of Technology Management &amp;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SESSION: 2025-26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presentation covers the following sections: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7063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Used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1927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 of Project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67335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22199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77063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319272"/>
            <a:ext cx="283464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02920" y="416052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topics are aligned with the report and supported by the demonstration shown in the project.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754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 gesture recognition is a branch of computer vision that enables machines to detect and interpret human hand movements.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useful in human-computer interaction, assistive technology, virtual reality, and smart interfaces where touchless control is preferred.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demonstrates a simple real-time pipeline that detects hand landmarks and classifies gestures using Support Vector Machine (SVM).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051560"/>
            <a:ext cx="3017520" cy="3474720"/>
          </a:xfrm>
          <a:prstGeom prst="roundRect">
            <a:avLst>
              <a:gd name="adj" fmla="val 1515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852160" y="1280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1691640"/>
            <a:ext cx="246888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Contactless interaction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input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 to demonstrate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Useful for accessibility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3886200" cy="4434840"/>
          </a:xfrm>
          <a:prstGeom prst="roundRect">
            <a:avLst>
              <a:gd name="adj" fmla="val 1176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objectives of the project are: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802423"/>
            <a:ext cx="34290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detect a hand in a webcam frame using computer vision techniques.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extract hand landmark coordinates as features.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train an SVM model for gesture classification.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display the predicted gesture in real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3931920" cy="443484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compact system that can recognize a few basic gestures such as fist, open palm, and thumbs up with minimal delay.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2726356"/>
            <a:ext cx="292608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92040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29260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" indent="-2032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Single-hand detection</a:t>
            </a:r>
            <a:endParaRPr lang="en-US" sz="1100" dirty="0"/>
          </a:p>
          <a:p>
            <a:pPr marL="2032" indent="-2032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gesture classes</a:t>
            </a:r>
            <a:endParaRPr lang="en-US" sz="1100" dirty="0"/>
          </a:p>
          <a:p>
            <a:pPr marL="2032" indent="-2032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Webcam-based demo</a:t>
            </a:r>
            <a:endParaRPr lang="en-US" sz="1100" dirty="0"/>
          </a:p>
          <a:p>
            <a:pPr marL="2032" indent="-2032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implementation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input devices such as the mouse and keyboard are not always suitable for natural and touch-free interaction.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04088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physical contact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Needs natural and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intuitive interaction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5848" y="182880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65576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for real-time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95489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should recognize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 gestures instantly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36208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Need for feature extraction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hand landmarks</a:t>
            </a:r>
            <a:endParaRPr lang="en-US" sz="12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into numeric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83080" y="3794760"/>
            <a:ext cx="5394960" cy="0"/>
          </a:xfrm>
          <a:prstGeom prst="line">
            <a:avLst/>
          </a:prstGeom>
          <a:noFill/>
          <a:ln w="12700">
            <a:solidFill>
              <a:srgbClr val="7A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to solve: build a low-cost real-time gesture recognition system using computer vision and machine learning.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3383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USED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9171" y="720266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79" y="960120"/>
            <a:ext cx="71586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 for real-time gesture recognition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Webcam 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737360"/>
            <a:ext cx="3200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874520" y="141732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920240" y="15819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 Detection</a:t>
            </a:r>
            <a:endParaRPr lang="en-US" sz="8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(MediaPipe)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63240" y="1737360"/>
            <a:ext cx="3200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29000" y="141732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74720" y="15819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Extraction</a:t>
            </a:r>
            <a:endParaRPr lang="en-US" sz="7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(21 landmarks)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17720" y="1737360"/>
            <a:ext cx="3200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074920" y="141732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120640" y="15819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</a:t>
            </a:r>
            <a:endParaRPr lang="en-US" sz="8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32004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37960" y="141732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83680" y="15819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Gesture</a:t>
            </a:r>
            <a:endParaRPr lang="en-US" sz="10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468880"/>
            <a:ext cx="397764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2670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971800"/>
            <a:ext cx="352044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camera captures live frames.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MediaPipe detects the hand and returns 21 landmarks.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landmark coordinates are flattened into a feature vector.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trained SVM predicts the gesture class.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result is displayed on the screen.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468880"/>
            <a:ext cx="3840480" cy="3108960"/>
          </a:xfrm>
          <a:prstGeom prst="roundRect">
            <a:avLst>
              <a:gd name="adj" fmla="val 1471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029200" y="25557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999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• OpenCV • MediaPipe • scikit-learn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5433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approach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910819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small custom dataset can be created by capturing gesture samples from the webcam and labeling them before training the classifier.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 OF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1500" y="99142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designed to recognize a small set of gestures in real time and can be expanded later for more gestures.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63039"/>
            <a:ext cx="2423160" cy="2748475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Closed hand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0" y="1463040"/>
            <a:ext cx="2423160" cy="2748474"/>
          </a:xfrm>
          <a:prstGeom prst="roundRect">
            <a:avLst>
              <a:gd name="adj" fmla="val 2381"/>
            </a:avLst>
          </a:prstGeom>
          <a:solidFill>
            <a:srgbClr val="F8F8F8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66160" y="16642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Palm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Visible fingers and hand pose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25146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423160" cy="274847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0" y="16642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Thumbs 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Distinct positive gesture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 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" y="4315968"/>
            <a:ext cx="7818120" cy="1737360"/>
          </a:xfrm>
          <a:prstGeom prst="roundRect">
            <a:avLst>
              <a:gd name="adj" fmla="val 2632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91540" y="45262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features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" y="4837176"/>
            <a:ext cx="7223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" indent="-2032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gesture detection from live webcam feed.</a:t>
            </a:r>
            <a:endParaRPr lang="en-US" sz="1150" dirty="0"/>
          </a:p>
          <a:p>
            <a:pPr marL="2032" indent="-2032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Landmark-based representation instead of raw pixels.</a:t>
            </a:r>
            <a:endParaRPr lang="en-US" sz="1150" dirty="0"/>
          </a:p>
          <a:p>
            <a:pPr marL="2032" indent="-2032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Simple SVM classifier suitable for a quick academic prototype.</a:t>
            </a:r>
            <a:endParaRPr lang="en-US" sz="1150" dirty="0"/>
          </a:p>
          <a:p>
            <a:pPr marL="2032" indent="-2032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be scaled to additional gestures and applications.</a:t>
            </a:r>
            <a:endParaRPr lang="en-US" sz="1150" dirty="0"/>
          </a:p>
        </p:txBody>
      </p:sp>
      <p:pic>
        <p:nvPicPr>
          <p:cNvPr id="23" name="Picture 2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4" t="25045" r="53679" b="15143"/>
          <a:stretch/>
        </p:blipFill>
        <p:spPr bwMode="auto">
          <a:xfrm>
            <a:off x="971550" y="2395726"/>
            <a:ext cx="1760220" cy="16760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Picture 23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9" t="26392" r="57551" b="14685"/>
          <a:stretch/>
        </p:blipFill>
        <p:spPr bwMode="auto">
          <a:xfrm>
            <a:off x="3882390" y="2514599"/>
            <a:ext cx="1607820" cy="15571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3" t="26549" r="53887" b="14088"/>
          <a:stretch/>
        </p:blipFill>
        <p:spPr bwMode="auto">
          <a:xfrm>
            <a:off x="6647180" y="2514600"/>
            <a:ext cx="1747520" cy="15571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3886200" cy="44805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59" y="1298448"/>
            <a:ext cx="3159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steps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627632"/>
            <a:ext cx="342900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" indent="-2286" algn="just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 sample gestures using a webcam.</a:t>
            </a:r>
            <a:endParaRPr lang="en-US" sz="1200" dirty="0"/>
          </a:p>
          <a:p>
            <a:pPr marL="2286" indent="-2286" algn="just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21 hand landmark coordinates with MediaPipe.</a:t>
            </a:r>
            <a:endParaRPr lang="en-US" sz="1200" dirty="0"/>
          </a:p>
          <a:p>
            <a:pPr marL="2286" indent="-2286" algn="just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the coordinates and labels for training.</a:t>
            </a:r>
            <a:endParaRPr lang="en-US" sz="1200" dirty="0"/>
          </a:p>
          <a:p>
            <a:pPr marL="2286" indent="-2286" algn="just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 Support Vector Machine classifier.</a:t>
            </a:r>
            <a:endParaRPr lang="en-US" sz="1200" dirty="0"/>
          </a:p>
          <a:p>
            <a:pPr marL="2286" indent="-2286" algn="just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the model to predict gestures on live frames.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840480" cy="4480560"/>
          </a:xfrm>
          <a:prstGeom prst="roundRect">
            <a:avLst>
              <a:gd name="adj" fmla="val 1190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1664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78769" y="1664208"/>
            <a:ext cx="2570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programming language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10912" y="1920240"/>
            <a:ext cx="31546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10912" y="2350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78769" y="2350008"/>
            <a:ext cx="22508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 input and display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2606040"/>
            <a:ext cx="31546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10912" y="30358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MediaPipe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0358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 landmark 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10912" y="3291840"/>
            <a:ext cx="31546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10912" y="37216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37216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model training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10912" y="3977640"/>
            <a:ext cx="31546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83480" y="4617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demo can be shown with a live webcam, or with a static image/video backup if hardware support is limited.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078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successfully demonstrates that hand gestures can be recognized in real time using computer vision and SVM.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7498080" cy="201168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0408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simple, efficient, and suitable for a student project.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demonstrates the use of AI for touchless interaction.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current scope can be extended by adding more gestures, better datasets, and improved classifiers.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749808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more gestures, improve robustness in different lighting conditions, and explore advanced models for higher accuracy.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9640" y="6419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8229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78638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71323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Documentation — https://opencv.org/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MediaPipe Hand Tracking Guide — https://developers.google.com/mediapipe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Documentation — https://scikit-learn.org/</a:t>
            </a:r>
            <a:endParaRPr lang="en-US" sz="1200" dirty="0"/>
          </a:p>
          <a:p>
            <a:pPr marL="2286" indent="-2286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papers on hand gesture recognition and landmark-based classification.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94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000" dirty="0"/>
          </a:p>
        </p:txBody>
      </p:sp>
      <p:pic>
        <p:nvPicPr>
          <p:cNvPr id="3" name="Image 0" descr="/mnt/data/extracted_imgs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587" y="1234440"/>
            <a:ext cx="1592826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Hand Gesture Recognition using SVM and Computer Vision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38404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 </a:t>
            </a:r>
            <a:r>
              <a:rPr lang="en-US" sz="1800" b="1" dirty="0" err="1" smtClean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Nakshatra</a:t>
            </a:r>
            <a:r>
              <a:rPr lang="en-US" sz="1800" b="1" dirty="0" smtClean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800" b="1" dirty="0" err="1" smtClean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Paliwal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 Dr. Suyog Pande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EEF0205D81AC4BA07EE4B80103B4B9" ma:contentTypeVersion="11" ma:contentTypeDescription="Create a new document." ma:contentTypeScope="" ma:versionID="6b55208069810dbe1c6fd2f1579ff8b6">
  <xsd:schema xmlns:xsd="http://www.w3.org/2001/XMLSchema" xmlns:xs="http://www.w3.org/2001/XMLSchema" xmlns:p="http://schemas.microsoft.com/office/2006/metadata/properties" xmlns:ns2="ff11d5b8-1eeb-4b59-ae64-84a20b97e733" xmlns:ns3="8aa28b7e-c5b6-4db8-be1f-ce18dc9d6788" targetNamespace="http://schemas.microsoft.com/office/2006/metadata/properties" ma:root="true" ma:fieldsID="6d28cd597fab7729fac4af37f2120e7e" ns2:_="" ns3:_="">
    <xsd:import namespace="ff11d5b8-1eeb-4b59-ae64-84a20b97e733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11d5b8-1eeb-4b59-ae64-84a20b97e73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51db2a6-1f8a-4104-9e97-690570a5d69b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11d5b8-1eeb-4b59-ae64-84a20b97e733">
      <Terms xmlns="http://schemas.microsoft.com/office/infopath/2007/PartnerControls"/>
    </lcf76f155ced4ddcb4097134ff3c332f>
    <TaxCatchAll xmlns="8aa28b7e-c5b6-4db8-be1f-ce18dc9d6788" xsi:nil="true"/>
    <ReferenceId xmlns="ff11d5b8-1eeb-4b59-ae64-84a20b97e733" xsi:nil="true"/>
  </documentManagement>
</p:properties>
</file>

<file path=customXml/itemProps1.xml><?xml version="1.0" encoding="utf-8"?>
<ds:datastoreItem xmlns:ds="http://schemas.openxmlformats.org/officeDocument/2006/customXml" ds:itemID="{763B39AB-9D46-4CAE-872C-5611555E38BF}"/>
</file>

<file path=customXml/itemProps2.xml><?xml version="1.0" encoding="utf-8"?>
<ds:datastoreItem xmlns:ds="http://schemas.openxmlformats.org/officeDocument/2006/customXml" ds:itemID="{682199F8-3BBC-4FF9-95BB-58E463ECB021}"/>
</file>

<file path=customXml/itemProps3.xml><?xml version="1.0" encoding="utf-8"?>
<ds:datastoreItem xmlns:ds="http://schemas.openxmlformats.org/officeDocument/2006/customXml" ds:itemID="{EC305DE2-A4D5-4BB7-B5AC-E70A8EB0E87A}"/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763</Words>
  <Application>Microsoft Office PowerPoint</Application>
  <PresentationFormat>On-screen Show (4:3)</PresentationFormat>
  <Paragraphs>150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Hand Gesture Recognition using SVM and Computer Vision</dc:title>
  <dc:subject>PAI Project</dc:subject>
  <dc:creator>OpenAI</dc:creator>
  <cp:lastModifiedBy>Nakshatra Paliwal</cp:lastModifiedBy>
  <cp:revision>8</cp:revision>
  <dcterms:created xsi:type="dcterms:W3CDTF">2026-04-08T04:13:35Z</dcterms:created>
  <dcterms:modified xsi:type="dcterms:W3CDTF">2026-04-16T05:30:57Z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0x010100AAEEF0205D81AC4BA07EE4B80103B4B9</vt:lpwstr>
  </property>
</Properties>
</file>